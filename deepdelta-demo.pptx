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CD4E2"/>
                </a:solidFill>
                <a:latin typeface="Calibri"/>
              </a:rPr>
              <a:t>DEEPDELTA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hackathon · human delta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Calibration that RAG can't fake.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CD4E2"/>
                </a:solidFill>
                <a:latin typeface="Calibri"/>
              </a:rPr>
              <a:t>Most RAG demos cherry-pick. We scored the same pipeline on three queries —
one with great sources, one with stale sources, one with none at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587" y="3657600"/>
            <a:ext cx="352044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388620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4B942"/>
                </a:solidFill>
                <a:latin typeface="Calibri"/>
              </a:rP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07" y="489204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CD4E2"/>
                </a:solidFill>
                <a:latin typeface="Calibri"/>
              </a:rPr>
              <a:t>"What's the deepest fish ever recorded?"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5440680"/>
            <a:ext cx="2011680" cy="320040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0967" y="5440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CAUGHT THE DECAY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5627" y="3657600"/>
            <a:ext cx="352044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5627" y="388620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4B942"/>
                </a:solidFill>
                <a:latin typeface="Calibri"/>
              </a:rP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9947" y="489204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CD4E2"/>
                </a:solidFill>
                <a:latin typeface="Calibri"/>
              </a:rPr>
              <a:t>"When were vents first seen on Gakkel Ridge?"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0007" y="5440680"/>
            <a:ext cx="2011680" cy="320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0007" y="5440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LIVE HD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4667" y="3657600"/>
            <a:ext cx="3520440" cy="2377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4667" y="388620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4B942"/>
                </a:solidFill>
                <a:latin typeface="Calibr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987" y="489204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CD4E2"/>
                </a:solidFill>
                <a:latin typeface="Calibri"/>
              </a:rPr>
              <a:t>"Where do giant cucumbers live?"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39047" y="5440680"/>
            <a:ext cx="2011680" cy="320040"/>
          </a:xfrm>
          <a:prstGeom prst="rect">
            <a:avLst/>
          </a:prstGeom>
          <a:solidFill>
            <a:srgbClr val="C0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9047" y="5440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HIGH-IMPACT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CD4E2"/>
                </a:solidFill>
                <a:latin typeface="Calibri"/>
              </a:rPr>
              <a:t>Same retriever. Three different verdicts. That's the part everyone skips.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1295C"/>
                </a:solidFill>
                <a:latin typeface="Calibri"/>
              </a:rPr>
              <a:t>How DeepDelta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Calibri"/>
              </a:rPr>
              <a:t>Retrieve → judge → surface the doubt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" y="2057400"/>
            <a:ext cx="3520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587" y="21945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6587" y="21945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427" y="24048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3291840"/>
            <a:ext cx="288036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Human Delta as a knowledge filesystem.
The deep-sea corpus is crawled into HD's /source/ tree. Retrieval reads it live via hd.fs.read() with keyword scoring + passage extraction.
No vector DB. No embeddings. Auditable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5627" y="2057400"/>
            <a:ext cx="3520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7067" y="2194560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7067" y="21945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2907" y="24048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5667" y="3291840"/>
            <a:ext cx="288036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Claude with forced tool-use.
The answer model drafts a response from retrieved passages. A second Claude call acts as judge, forced through a tool schema to output structured JSON — agreement, direct evidence, recency, and self-confidence.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6107" y="2057400"/>
            <a:ext cx="35204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7547" y="2194560"/>
            <a:ext cx="822960" cy="82296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7547" y="21945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24048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libri"/>
              </a:rPr>
              <a:t>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6147" y="3291840"/>
            <a:ext cx="288036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Four-factor score + doubt.
0.4 agreement + 0.2 evidence + 0.2 recency + 0.2 confidence. Decay flags stale claims. Gaps flag corpus holes. Audit trail written back to HD's /agent/ for replay.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Retrieval through /source/  ·  Audit log to /agent/  ·  Score out of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actually happened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9CD4E2"/>
                </a:solidFill>
                <a:latin typeface="Calibri"/>
              </a:rPr>
              <a:t>Three queries. Three honest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147" y="192024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147" y="1920240"/>
            <a:ext cx="3520440" cy="502920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" y="192024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DECAY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" y="260604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21295C"/>
                </a:solidFill>
                <a:latin typeface="Calibri"/>
              </a:rP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"What's the deepest fish ever recorded?"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452628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2014 Mariana snailfish record flagged as stale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Surfaced 2023 Izu-Ogasawara update (8,336 m)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Cited 4 sources across Wikipedia, NOAA, UWA, Nature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5627" y="192024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20240"/>
            <a:ext cx="352044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5627" y="192024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LIVE HD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5627" y="260604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21295C"/>
                </a:solidFill>
                <a:latin typeface="Calibri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9947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"When were vents first observed on the Gakkel Ridge?"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947" y="452628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7 sources retrieved live through hd.fs.read()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Polarstern/Healy 2001 expedition cited correctly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100% agreement, 17% direct — honest about cross-refs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6107" y="1920240"/>
            <a:ext cx="352044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6107" y="1920240"/>
            <a:ext cx="3520440" cy="502920"/>
          </a:xfrm>
          <a:prstGeom prst="rect">
            <a:avLst/>
          </a:prstGeom>
          <a:solidFill>
            <a:srgbClr val="C0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6107" y="192024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GAP SURFACED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107" y="260604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21295C"/>
                </a:solidFill>
                <a:latin typeface="Calibri"/>
              </a:rPr>
              <a:t>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0427" y="361188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"Where do giant cucumbers live?"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0427" y="452628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Refused to fabricate; noted no matching species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High-impact gap raised to the user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— 50% agreement, 30% self-confidence — low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CD4E2"/>
                </a:solidFill>
                <a:latin typeface="Calibri"/>
              </a:rPr>
              <a:t>Audit trail written to HD /agent/ after every scan.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